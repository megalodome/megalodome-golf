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ain Desrochers" userId="888a1e21-a132-46f3-9413-05e10b1b40fa" providerId="ADAL" clId="{551D60F7-35E6-4E0C-9B8A-D40E4C35BDB8}"/>
    <pc:docChg chg="modSld">
      <pc:chgData name="Alain Desrochers" userId="888a1e21-a132-46f3-9413-05e10b1b40fa" providerId="ADAL" clId="{551D60F7-35E6-4E0C-9B8A-D40E4C35BDB8}" dt="2026-07-17T13:47:40.643" v="20" actId="20577"/>
      <pc:docMkLst>
        <pc:docMk/>
      </pc:docMkLst>
      <pc:sldChg chg="modSp mod">
        <pc:chgData name="Alain Desrochers" userId="888a1e21-a132-46f3-9413-05e10b1b40fa" providerId="ADAL" clId="{551D60F7-35E6-4E0C-9B8A-D40E4C35BDB8}" dt="2026-07-17T13:47:40.643" v="20" actId="20577"/>
        <pc:sldMkLst>
          <pc:docMk/>
          <pc:sldMk cId="0" sldId="268"/>
        </pc:sldMkLst>
        <pc:spChg chg="mod">
          <ac:chgData name="Alain Desrochers" userId="888a1e21-a132-46f3-9413-05e10b1b40fa" providerId="ADAL" clId="{551D60F7-35E6-4E0C-9B8A-D40E4C35BDB8}" dt="2026-07-17T13:47:40.643" v="20" actId="20577"/>
          <ac:spMkLst>
            <pc:docMk/>
            <pc:sldMk cId="0" sldId="268"/>
            <ac:spMk id="14" creationId="{00000000-0000-0000-0000-000000000000}"/>
          </ac:spMkLst>
        </pc:spChg>
      </pc:sldChg>
    </pc:docChg>
  </pc:docChgLst>
  <pc:docChgLst>
    <pc:chgData name="Bertrand Quentin" userId="eed92d80-606c-4493-904d-9e41e751077f" providerId="ADAL" clId="{BBC46A85-F0C2-4E00-B787-2B8CBAEEC517}"/>
    <pc:docChg chg="modSld">
      <pc:chgData name="Bertrand Quentin" userId="eed92d80-606c-4493-904d-9e41e751077f" providerId="ADAL" clId="{BBC46A85-F0C2-4E00-B787-2B8CBAEEC517}" dt="2026-06-18T20:31:57.797" v="108" actId="20577"/>
      <pc:docMkLst>
        <pc:docMk/>
      </pc:docMkLst>
      <pc:sldChg chg="modSp mod">
        <pc:chgData name="Bertrand Quentin" userId="eed92d80-606c-4493-904d-9e41e751077f" providerId="ADAL" clId="{BBC46A85-F0C2-4E00-B787-2B8CBAEEC517}" dt="2026-06-18T20:30:42.784" v="90" actId="20577"/>
        <pc:sldMkLst>
          <pc:docMk/>
          <pc:sldMk cId="0" sldId="264"/>
        </pc:sldMkLst>
        <pc:spChg chg="mod">
          <ac:chgData name="Bertrand Quentin" userId="eed92d80-606c-4493-904d-9e41e751077f" providerId="ADAL" clId="{BBC46A85-F0C2-4E00-B787-2B8CBAEEC517}" dt="2026-06-18T20:30:42.784" v="90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Bertrand Quentin" userId="eed92d80-606c-4493-904d-9e41e751077f" providerId="ADAL" clId="{BBC46A85-F0C2-4E00-B787-2B8CBAEEC517}" dt="2026-06-18T20:31:19.137" v="100" actId="20577"/>
        <pc:sldMkLst>
          <pc:docMk/>
          <pc:sldMk cId="0" sldId="266"/>
        </pc:sldMkLst>
        <pc:spChg chg="mod">
          <ac:chgData name="Bertrand Quentin" userId="eed92d80-606c-4493-904d-9e41e751077f" providerId="ADAL" clId="{BBC46A85-F0C2-4E00-B787-2B8CBAEEC517}" dt="2026-06-18T20:31:06.563" v="94" actId="20577"/>
          <ac:spMkLst>
            <pc:docMk/>
            <pc:sldMk cId="0" sldId="266"/>
            <ac:spMk id="8" creationId="{00000000-0000-0000-0000-000000000000}"/>
          </ac:spMkLst>
        </pc:spChg>
        <pc:spChg chg="mod">
          <ac:chgData name="Bertrand Quentin" userId="eed92d80-606c-4493-904d-9e41e751077f" providerId="ADAL" clId="{BBC46A85-F0C2-4E00-B787-2B8CBAEEC517}" dt="2026-06-18T20:31:19.137" v="100" actId="20577"/>
          <ac:spMkLst>
            <pc:docMk/>
            <pc:sldMk cId="0" sldId="266"/>
            <ac:spMk id="10" creationId="{00000000-0000-0000-0000-000000000000}"/>
          </ac:spMkLst>
        </pc:spChg>
      </pc:sldChg>
      <pc:sldChg chg="modSp mod">
        <pc:chgData name="Bertrand Quentin" userId="eed92d80-606c-4493-904d-9e41e751077f" providerId="ADAL" clId="{BBC46A85-F0C2-4E00-B787-2B8CBAEEC517}" dt="2026-06-18T20:31:57.797" v="108" actId="20577"/>
        <pc:sldMkLst>
          <pc:docMk/>
          <pc:sldMk cId="0" sldId="269"/>
        </pc:sldMkLst>
        <pc:spChg chg="mod">
          <ac:chgData name="Bertrand Quentin" userId="eed92d80-606c-4493-904d-9e41e751077f" providerId="ADAL" clId="{BBC46A85-F0C2-4E00-B787-2B8CBAEEC517}" dt="2026-06-18T20:31:57.797" v="108" actId="20577"/>
          <ac:spMkLst>
            <pc:docMk/>
            <pc:sldMk cId="0" sldId="269"/>
            <ac:spMk id="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CA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2A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29F-478C-B635-978142CB2EC6}"/>
              </c:ext>
            </c:extLst>
          </c:dPt>
          <c:dPt>
            <c:idx val="1"/>
            <c:bubble3D val="0"/>
            <c:spPr>
              <a:solidFill>
                <a:srgbClr val="DFCE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9F-478C-B635-978142CB2EC6}"/>
              </c:ext>
            </c:extLst>
          </c:dPt>
          <c:dPt>
            <c:idx val="2"/>
            <c:bubble3D val="0"/>
            <c:spPr>
              <a:solidFill>
                <a:srgbClr val="9AA6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29F-478C-B635-978142CB2EC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9F-478C-B635-978142CB2EC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9F-478C-B635-978142CB2EC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29F-478C-B635-978142CB2EC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Green Fees</c:v>
                </c:pt>
                <c:pt idx="1">
                  <c:v>Practice Facility</c:v>
                </c:pt>
                <c:pt idx="2">
                  <c:v>Other Income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42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29F-478C-B635-978142CB2E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C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FY27</c:v>
                </c:pt>
                <c:pt idx="1">
                  <c:v>FY28</c:v>
                </c:pt>
                <c:pt idx="2">
                  <c:v>FY29</c:v>
                </c:pt>
                <c:pt idx="3">
                  <c:v>FY30</c:v>
                </c:pt>
                <c:pt idx="4">
                  <c:v>FY31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8.4600000000000009</c:v>
                </c:pt>
                <c:pt idx="1">
                  <c:v>22.36</c:v>
                </c:pt>
                <c:pt idx="2">
                  <c:v>22.8</c:v>
                </c:pt>
                <c:pt idx="3">
                  <c:v>23.59</c:v>
                </c:pt>
                <c:pt idx="4">
                  <c:v>24.29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B8-407D-B268-11D72730E2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($M)</c:v>
                </c:pt>
              </c:strCache>
            </c:strRef>
          </c:tx>
          <c:spPr>
            <a:solidFill>
              <a:srgbClr val="DFCE9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FY27</c:v>
                </c:pt>
                <c:pt idx="1">
                  <c:v>FY28</c:v>
                </c:pt>
                <c:pt idx="2">
                  <c:v>FY29</c:v>
                </c:pt>
                <c:pt idx="3">
                  <c:v>FY30</c:v>
                </c:pt>
                <c:pt idx="4">
                  <c:v>FY31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5.1100000000000003</c:v>
                </c:pt>
                <c:pt idx="1">
                  <c:v>13.54</c:v>
                </c:pt>
                <c:pt idx="2">
                  <c:v>14.1</c:v>
                </c:pt>
                <c:pt idx="3">
                  <c:v>14.6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B8-407D-B268-11D72730E2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12700" cap="flat">
              <a:solidFill>
                <a:srgbClr val="E6E2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CA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Uses ($M)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Buildings / 4 domes</c:v>
                </c:pt>
                <c:pt idx="1">
                  <c:v>Course layout</c:v>
                </c:pt>
                <c:pt idx="2">
                  <c:v>Contingency (10%)</c:v>
                </c:pt>
                <c:pt idx="3">
                  <c:v>Property / land</c:v>
                </c:pt>
                <c:pt idx="4">
                  <c:v>WC + interest reserve</c:v>
                </c:pt>
                <c:pt idx="5">
                  <c:v>Financing fees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47.57</c:v>
                </c:pt>
                <c:pt idx="1">
                  <c:v>8.4</c:v>
                </c:pt>
                <c:pt idx="2">
                  <c:v>6.2</c:v>
                </c:pt>
                <c:pt idx="3">
                  <c:v>5.65</c:v>
                </c:pt>
                <c:pt idx="4">
                  <c:v>4.78</c:v>
                </c:pt>
                <c:pt idx="5">
                  <c:v>1.9</c:v>
                </c:pt>
                <c:pt idx="6">
                  <c:v>1.22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1E-47D9-A98F-DA67EED777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411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25146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MEGALODOME GOLF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0" y="3520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500" dirty="0">
                <a:solidFill>
                  <a:srgbClr val="EEDC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REVOLUTION IN GOLF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828800" y="4069080"/>
            <a:ext cx="8534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first fully playable indoor golf course — real, walkable golf, 365 days a year, in the Chicago metro.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169768" y="4983480"/>
            <a:ext cx="5852160" cy="566928"/>
          </a:xfrm>
          <a:prstGeom prst="roundRect">
            <a:avLst>
              <a:gd name="adj" fmla="val 50000"/>
            </a:avLst>
          </a:prstGeom>
          <a:solidFill>
            <a:srgbClr val="383838"/>
          </a:solidFill>
          <a:ln w="12700">
            <a:solidFill>
              <a:srgbClr val="EEDCA7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4"/>
          <p:cNvSpPr/>
          <p:nvPr/>
        </p:nvSpPr>
        <p:spPr>
          <a:xfrm>
            <a:off x="3169768" y="498348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 Equity</a:t>
            </a:r>
            <a:r>
              <a:rPr lang="en-US" sz="13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$52M Debt  ·  Reg D 506(c)  ·  Oswego, IL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5989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MEGALODOME GOLF Equity Fund  LLC | Confidential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54ED59-3F2B-85FD-5664-3493B6D03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7" y="868680"/>
            <a:ext cx="29260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Golf is a seasonal sport in a year-round market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two-thirds of the developed world, golf shuts down for five to seven months a year. Winter erases the season. The only "solution" the market has offered is the simulator — a screen, not the game.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simulator is not golf.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turf, no walk, no shot you can read off the ground. Serious golfers know the difference — and there is no venue that lets them play an actual course when it's cold.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20840" y="1828800"/>
            <a:ext cx="2468880" cy="1463040"/>
          </a:xfrm>
          <a:prstGeom prst="roundRect">
            <a:avLst>
              <a:gd name="adj" fmla="val 3750"/>
            </a:avLst>
          </a:prstGeom>
          <a:solidFill>
            <a:srgbClr val="F3F1EA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6812280" y="2029968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5–7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830568" y="2794406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GOLF CLOSES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0"/>
            <a:ext cx="2240280" cy="1463040"/>
          </a:xfrm>
          <a:prstGeom prst="roundRect">
            <a:avLst>
              <a:gd name="adj" fmla="val 3750"/>
            </a:avLst>
          </a:prstGeom>
          <a:solidFill>
            <a:srgbClr val="F3F1EA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0" name="Text 8"/>
          <p:cNvSpPr/>
          <p:nvPr/>
        </p:nvSpPr>
        <p:spPr>
          <a:xfrm>
            <a:off x="9464040" y="2029968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9482328" y="2794406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INDOOR COURSES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365760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720840" y="42976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winter, demand exists with nowhere to go.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accredited investors only. Not an offer to sell or solicitation to buy any security; the offering is made solely through the Confidential Private Placement Memorandum of MEGALODOME GOLF Equity Fund I LLC under Rule 506(c) of Regulation D. Projections are modeled estimates, not guarantees; actual results will differ.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11430000" y="6510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EDC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way people play golf has already changed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 in the sport's history, more Americans play golf off-course than on it. Demand has moved indoors — but the product hasn't caught up.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383280" cy="1691640"/>
          </a:xfrm>
          <a:prstGeom prst="roundRect">
            <a:avLst>
              <a:gd name="adj" fmla="val 3243"/>
            </a:avLst>
          </a:prstGeom>
          <a:solidFill>
            <a:srgbClr val="383838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4"/>
          <p:cNvSpPr/>
          <p:nvPr/>
        </p:nvSpPr>
        <p:spPr>
          <a:xfrm>
            <a:off x="731520" y="3035808"/>
            <a:ext cx="320040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EDC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32.9M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49808" y="3951122"/>
            <a:ext cx="316382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OFF-COURSE GOLFERS (U.S.)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60520" y="310896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EDC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5400" dirty="0"/>
          </a:p>
        </p:txBody>
      </p:sp>
      <p:sp>
        <p:nvSpPr>
          <p:cNvPr id="10" name="Shape 7"/>
          <p:cNvSpPr/>
          <p:nvPr/>
        </p:nvSpPr>
        <p:spPr>
          <a:xfrm>
            <a:off x="5440680" y="2834640"/>
            <a:ext cx="3383280" cy="1691640"/>
          </a:xfrm>
          <a:prstGeom prst="roundRect">
            <a:avLst>
              <a:gd name="adj" fmla="val 3243"/>
            </a:avLst>
          </a:prstGeom>
          <a:solidFill>
            <a:srgbClr val="383838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Text 8"/>
          <p:cNvSpPr/>
          <p:nvPr/>
        </p:nvSpPr>
        <p:spPr>
          <a:xfrm>
            <a:off x="5532120" y="3035808"/>
            <a:ext cx="320040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C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26.6M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5550408" y="3951122"/>
            <a:ext cx="316382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ON-COURSE GOLFERS (U.S.)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098280" y="2834640"/>
            <a:ext cx="2450592" cy="1691640"/>
          </a:xfrm>
          <a:prstGeom prst="roundRect">
            <a:avLst>
              <a:gd name="adj" fmla="val 3243"/>
            </a:avLst>
          </a:prstGeom>
          <a:solidFill>
            <a:srgbClr val="1F2A44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4" name="Text 11"/>
          <p:cNvSpPr/>
          <p:nvPr/>
        </p:nvSpPr>
        <p:spPr>
          <a:xfrm>
            <a:off x="9281160" y="301752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EDC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is real.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is a place to play a real course indoors.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4892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Megalodome is built to capture exactly that gap — not with screens, but with genuine, walkable golf under a climate-controlled roof.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accredited investors only. Not an offer to sell or solicitation to buy any security; the offering is made solely through the Confidential Private Placement Memorandum of MEGALODOME GOLF Equity Fund I LLC under Rule 506(c) of Regulation D. Projections are modeled estimates, not guarantees; actual results will differ.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1430000" y="6510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golf course — indoors, all year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interconnected climate-controlled domes house a genuine executive course, a full practice facility, and a two-story clubhouse. Open 6 AM – 1 AM, 365 days a year, in any weather.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257800" cy="1508760"/>
          </a:xfrm>
          <a:prstGeom prst="roundRect">
            <a:avLst>
              <a:gd name="adj" fmla="val 3636"/>
            </a:avLst>
          </a:prstGeom>
          <a:solidFill>
            <a:srgbClr val="F3F1E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896112" y="310896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FCE9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26440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944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9-Hole Executive Par-30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874520" y="338328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par-3s and three par-4s on real turf — a course you walk and play, not a screen.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2743200"/>
            <a:ext cx="5257800" cy="1508760"/>
          </a:xfrm>
          <a:prstGeom prst="roundRect">
            <a:avLst>
              <a:gd name="adj" fmla="val 3636"/>
            </a:avLst>
          </a:prstGeom>
          <a:solidFill>
            <a:srgbClr val="F3F1E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Shape 8"/>
          <p:cNvSpPr/>
          <p:nvPr/>
        </p:nvSpPr>
        <p:spPr>
          <a:xfrm>
            <a:off x="6428232" y="310896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FCE9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26440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944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Domes, ~270k sq ft each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406640" y="338328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~110 ft tall, interconnected and climate-controlled for true year-round play.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434840"/>
            <a:ext cx="5257800" cy="1508760"/>
          </a:xfrm>
          <a:prstGeom prst="roundRect">
            <a:avLst>
              <a:gd name="adj" fmla="val 3636"/>
            </a:avLst>
          </a:prstGeom>
          <a:solidFill>
            <a:srgbClr val="F3F1E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Shape 12"/>
          <p:cNvSpPr/>
          <p:nvPr/>
        </p:nvSpPr>
        <p:spPr>
          <a:xfrm>
            <a:off x="896112" y="480060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FCE9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95604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74520" y="4636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275-Yard Range · 50 Stalls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874520" y="5074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practice facility with short-game area and technology alongside the course.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4434840"/>
            <a:ext cx="5257800" cy="1508760"/>
          </a:xfrm>
          <a:prstGeom prst="roundRect">
            <a:avLst>
              <a:gd name="adj" fmla="val 3636"/>
            </a:avLst>
          </a:prstGeom>
          <a:solidFill>
            <a:srgbClr val="F3F1E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1" name="Shape 16"/>
          <p:cNvSpPr/>
          <p:nvPr/>
        </p:nvSpPr>
        <p:spPr>
          <a:xfrm>
            <a:off x="6428232" y="480060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FCE9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95604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4636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~290,000 Annual Visits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406640" y="5074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Two-story clubhouse: sports bar, pro shop, and event space. Fall 2027 opening.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accredited investors only. Not an offer to sell or solicitation to buy any security; the offering is made solely through the Confidential Private Placement Memorandum of MEGALODOME GOLF Equity Fund I LLC under Rule 506(c) of Regulation D. Projections are modeled estimates, not guarantees; actual results will differ.</a:t>
            </a:r>
            <a:endParaRPr lang="en-US" sz="700" dirty="0"/>
          </a:p>
        </p:txBody>
      </p:sp>
      <p:sp>
        <p:nvSpPr>
          <p:cNvPr id="26" name="Text 20"/>
          <p:cNvSpPr/>
          <p:nvPr/>
        </p:nvSpPr>
        <p:spPr>
          <a:xfrm>
            <a:off x="11430000" y="6510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defensible, first-of-category position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671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002536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creator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operator offering real indoor course play. No direct competitor exists.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43400" y="196596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16712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2002536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Protected IP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343400" y="29260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Trademark and proprietary course-design IP around the dome-course system.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46720" y="196596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216712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52560" y="2002536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Approvals secured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046720" y="29260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Unanimous Village of Oswego approval (Sept 2024); complete design documentation.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11480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31596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45920" y="4151376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operating model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640080" y="50749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SportsDome's 15-year school-program model fills weekday, off-peak hours.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343400" y="411480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4568" y="4315968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49240" y="4151376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Hard-asset backing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4343400" y="50749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acres and four domes — tangible collateral, not a software promise.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046720" y="411480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7888" y="4315968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052560" y="4151376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revenue streams</a:t>
            </a:r>
            <a:endParaRPr lang="en-US" sz="1700" dirty="0"/>
          </a:p>
        </p:txBody>
      </p:sp>
      <p:sp>
        <p:nvSpPr>
          <p:cNvPr id="27" name="Text 19"/>
          <p:cNvSpPr/>
          <p:nvPr/>
        </p:nvSpPr>
        <p:spPr>
          <a:xfrm>
            <a:off x="8046720" y="50749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fees, practice, memberships, leagues, events, F&amp;B, naming, and more.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accredited investors only. Not an offer to sell or solicitation to buy any security; the offering is made solely through the Confidential Private Placement Memorandum of MEGALODOME GOLF Equity Fund I LLC under Rule 506(c) of Regulation D. Projections are modeled estimates, not guarantees; actual results will differ.</a:t>
            </a:r>
            <a:endParaRPr lang="en-US" sz="700" dirty="0"/>
          </a:p>
        </p:txBody>
      </p:sp>
      <p:sp>
        <p:nvSpPr>
          <p:cNvPr id="29" name="Text 21"/>
          <p:cNvSpPr/>
          <p:nvPr/>
        </p:nvSpPr>
        <p:spPr>
          <a:xfrm>
            <a:off x="11430000" y="6510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product in the right metro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flagship sits on 100 acres in Oswego, Illinois — roughly 30 miles west of Chicago, in a dense, affluent, cold-weather market where outdoor golf closes for five to seven months. That closed season is precisely the demand window MEGALODOME GOLF captures at premium winter pricing.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approval already secured · design documentation complete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583680" y="1874520"/>
            <a:ext cx="2377440" cy="1417320"/>
          </a:xfrm>
          <a:prstGeom prst="roundRect">
            <a:avLst>
              <a:gd name="adj" fmla="val 3871"/>
            </a:avLst>
          </a:prstGeom>
          <a:solidFill>
            <a:srgbClr val="F3F1EA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6675120" y="2075688"/>
            <a:ext cx="21945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mi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693408" y="2809951"/>
            <a:ext cx="215798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OF CHICAGO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0" y="1874520"/>
            <a:ext cx="2423160" cy="1417320"/>
          </a:xfrm>
          <a:prstGeom prst="roundRect">
            <a:avLst>
              <a:gd name="adj" fmla="val 3871"/>
            </a:avLst>
          </a:prstGeom>
          <a:solidFill>
            <a:srgbClr val="F3F1EA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Text 8"/>
          <p:cNvSpPr/>
          <p:nvPr/>
        </p:nvSpPr>
        <p:spPr>
          <a:xfrm>
            <a:off x="9235440" y="2075688"/>
            <a:ext cx="22402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9253728" y="2809951"/>
            <a:ext cx="220370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 FLAGSHIP SITE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83680" y="3520440"/>
            <a:ext cx="2377440" cy="1417320"/>
          </a:xfrm>
          <a:prstGeom prst="roundRect">
            <a:avLst>
              <a:gd name="adj" fmla="val 3871"/>
            </a:avLst>
          </a:prstGeom>
          <a:solidFill>
            <a:srgbClr val="F3F1EA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4" name="Text 11"/>
          <p:cNvSpPr/>
          <p:nvPr/>
        </p:nvSpPr>
        <p:spPr>
          <a:xfrm>
            <a:off x="6675120" y="3721608"/>
            <a:ext cx="21945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89.6%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693408" y="4455871"/>
            <a:ext cx="215798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WINTER OCCUPANCY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144000" y="3520440"/>
            <a:ext cx="2423160" cy="1417320"/>
          </a:xfrm>
          <a:prstGeom prst="roundRect">
            <a:avLst>
              <a:gd name="adj" fmla="val 3871"/>
            </a:avLst>
          </a:prstGeom>
          <a:solidFill>
            <a:srgbClr val="F3F1EA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7" name="Text 14"/>
          <p:cNvSpPr/>
          <p:nvPr/>
        </p:nvSpPr>
        <p:spPr>
          <a:xfrm>
            <a:off x="9235440" y="3721608"/>
            <a:ext cx="22402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$122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9253728" y="4455871"/>
            <a:ext cx="220370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WINTER GREEN FEE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583680" y="5120640"/>
            <a:ext cx="4983480" cy="868680"/>
          </a:xfrm>
          <a:prstGeom prst="roundRect">
            <a:avLst>
              <a:gd name="adj" fmla="val 6316"/>
            </a:avLst>
          </a:prstGeom>
          <a:solidFill>
            <a:srgbClr val="1F2A44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0" name="Text 17"/>
          <p:cNvSpPr/>
          <p:nvPr/>
        </p:nvSpPr>
        <p:spPr>
          <a:xfrm>
            <a:off x="6720840" y="51206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EEDC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peaks exactly when every outdoor course is closed.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accredited investors only. Not an offer to sell or solicitation to buy any security; the offering is made solely through the Confidential Private Placement Memorandum of MEGALODOME GOLF Equity Fund I LLC under Rule 506(c) of Regulation D. Projections are modeled estimates, not guarantees; actual results will differ.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11430000" y="6510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revenue streams, three primary engines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920240"/>
          <a:ext cx="43891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40680" y="1965960"/>
            <a:ext cx="6126480" cy="1207008"/>
          </a:xfrm>
          <a:prstGeom prst="roundRect">
            <a:avLst>
              <a:gd name="adj" fmla="val 4545"/>
            </a:avLst>
          </a:prstGeom>
          <a:solidFill>
            <a:srgbClr val="F3F1EA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5577840" y="2075688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~54%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040880" y="2057400"/>
            <a:ext cx="4389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Fees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play, $65–$135 per round — premium winter pricing when outdoor courses are closed.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40680" y="3337560"/>
            <a:ext cx="6126480" cy="1207008"/>
          </a:xfrm>
          <a:prstGeom prst="roundRect">
            <a:avLst>
              <a:gd name="adj" fmla="val 4545"/>
            </a:avLst>
          </a:prstGeom>
          <a:solidFill>
            <a:srgbClr val="F3F1EA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9" name="Text 6"/>
          <p:cNvSpPr/>
          <p:nvPr/>
        </p:nvSpPr>
        <p:spPr>
          <a:xfrm>
            <a:off x="5577840" y="3447288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~42%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040880" y="3429000"/>
            <a:ext cx="4389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Facility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275-yard range and 50 stalls, $35–$65 per session, filling daytime and off-peak demand.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40680" y="4709160"/>
            <a:ext cx="6126480" cy="1207008"/>
          </a:xfrm>
          <a:prstGeom prst="roundRect">
            <a:avLst>
              <a:gd name="adj" fmla="val 4545"/>
            </a:avLst>
          </a:prstGeom>
          <a:solidFill>
            <a:srgbClr val="F3F1EA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2" name="Text 9"/>
          <p:cNvSpPr/>
          <p:nvPr/>
        </p:nvSpPr>
        <p:spPr>
          <a:xfrm>
            <a:off x="5577840" y="4818888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040880" y="4800600"/>
            <a:ext cx="4389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Income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F&amp;B, pro shop, banquets, leagues, school/college contracts, and dome naming rights.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accredited investors only. Not an offer to sell or solicitation to buy any security; the offering is made solely through the Confidential Private Placement Memorandum of MEGALODOME GOLF Equity Fund I LLC under Rule 506(c) of Regulation D. Projections are modeled estimates, not guarantees; actual results will differ.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11430000" y="6510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 ramp to a stabilized, high-margin asset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874520"/>
          <a:ext cx="69494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874520"/>
            <a:ext cx="3703320" cy="1280160"/>
          </a:xfrm>
          <a:prstGeom prst="roundRect">
            <a:avLst>
              <a:gd name="adj" fmla="val 4286"/>
            </a:avLst>
          </a:prstGeom>
          <a:solidFill>
            <a:srgbClr val="F3F1EA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7955280" y="2075688"/>
            <a:ext cx="3520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$24.3M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973568" y="2719426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STABILIZED REVENUE (FY31)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863840" y="3291840"/>
            <a:ext cx="3703320" cy="1280160"/>
          </a:xfrm>
          <a:prstGeom prst="roundRect">
            <a:avLst>
              <a:gd name="adj" fmla="val 4286"/>
            </a:avLst>
          </a:prstGeom>
          <a:solidFill>
            <a:srgbClr val="F3F1EA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9" name="Text 6"/>
          <p:cNvSpPr/>
          <p:nvPr/>
        </p:nvSpPr>
        <p:spPr>
          <a:xfrm>
            <a:off x="7955280" y="3493008"/>
            <a:ext cx="3520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$15.0M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973568" y="4136746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STABILIZED EBITDA (FY31)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63840" y="4709160"/>
            <a:ext cx="3703320" cy="1280160"/>
          </a:xfrm>
          <a:prstGeom prst="roundRect">
            <a:avLst>
              <a:gd name="adj" fmla="val 4286"/>
            </a:avLst>
          </a:prstGeom>
          <a:solidFill>
            <a:srgbClr val="F3F1EA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2" name="Text 9"/>
          <p:cNvSpPr/>
          <p:nvPr/>
        </p:nvSpPr>
        <p:spPr>
          <a:xfrm>
            <a:off x="7955280" y="4910328"/>
            <a:ext cx="3520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~62%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7973568" y="5554066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STABILIZED EBITDA MARGIN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accredited investors only. Not an offer to sell or solicitation to buy any security; the offering is made solely through the Confidential Private Placement Memorandum of MEGALODOME GOLF Equity Fund I LLC under Rule 506(c) of Regulation D. Projections are modeled estimates, not guarantees; actual results will differ.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11430000" y="6510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EDC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$25M equity across three tranches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949440" cy="603504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capitalization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0" y="19659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$77.0M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6949440" cy="603504"/>
          </a:xfrm>
          <a:prstGeom prst="rect">
            <a:avLst/>
          </a:prstGeom>
          <a:solidFill>
            <a:srgbClr val="343434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raise (3 tranches)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0" y="260604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$25.0M — Fund $10M · Memb $10M · Outside $5M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6949440" cy="603504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+ lease debt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0" y="32461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$52M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8.40% / 8.50% indic.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6949440" cy="603504"/>
          </a:xfrm>
          <a:prstGeom prst="rect">
            <a:avLst/>
          </a:prstGeom>
          <a:solidFill>
            <a:srgbClr val="343434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4" name="Text 12"/>
          <p:cNvSpPr/>
          <p:nvPr/>
        </p:nvSpPr>
        <p:spPr>
          <a:xfrm>
            <a:off x="868680" y="388620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return (Fund + Memb)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0" y="388620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p.a., cumulative, non-compounded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6949440" cy="603504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868680" y="452628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equity split (by ownership)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9200" y="452628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25 · Memb 10 · Strat 12.5 · MEG USA 52.5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166360"/>
            <a:ext cx="6949440" cy="603504"/>
          </a:xfrm>
          <a:prstGeom prst="rect">
            <a:avLst/>
          </a:prstGeom>
          <a:solidFill>
            <a:srgbClr val="343434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0" name="Text 18"/>
          <p:cNvSpPr/>
          <p:nvPr/>
        </p:nvSpPr>
        <p:spPr>
          <a:xfrm>
            <a:off x="868680" y="516636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lock-in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0" y="51663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months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818120" y="1965960"/>
            <a:ext cx="3749040" cy="3886200"/>
          </a:xfrm>
          <a:prstGeom prst="roundRect">
            <a:avLst>
              <a:gd name="adj" fmla="val 1463"/>
            </a:avLst>
          </a:prstGeom>
          <a:solidFill>
            <a:srgbClr val="1F2A44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3" name="Text 21"/>
          <p:cNvSpPr/>
          <p:nvPr/>
        </p:nvSpPr>
        <p:spPr>
          <a:xfrm>
            <a:off x="804672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EDC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WATERFALL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2606040"/>
            <a:ext cx="457200" cy="457200"/>
          </a:xfrm>
          <a:prstGeom prst="ellipse">
            <a:avLst/>
          </a:prstGeom>
          <a:solidFill>
            <a:srgbClr val="EEDCA7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5" name="Text 23"/>
          <p:cNvSpPr/>
          <p:nvPr/>
        </p:nvSpPr>
        <p:spPr>
          <a:xfrm>
            <a:off x="80467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641080" y="2560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of capital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&amp; Membership receive capital back first.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46720" y="3657600"/>
            <a:ext cx="457200" cy="457200"/>
          </a:xfrm>
          <a:prstGeom prst="ellipse">
            <a:avLst/>
          </a:prstGeom>
          <a:solidFill>
            <a:srgbClr val="EEDCA7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8" name="Text 26"/>
          <p:cNvSpPr/>
          <p:nvPr/>
        </p:nvSpPr>
        <p:spPr>
          <a:xfrm>
            <a:off x="80467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641080" y="3611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return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cumulative; unpaid amounts accrue (PIK).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46720" y="4709160"/>
            <a:ext cx="457200" cy="457200"/>
          </a:xfrm>
          <a:prstGeom prst="ellipse">
            <a:avLst/>
          </a:prstGeom>
          <a:solidFill>
            <a:srgbClr val="EEDCA7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31" name="Text 29"/>
          <p:cNvSpPr/>
          <p:nvPr/>
        </p:nvSpPr>
        <p:spPr>
          <a:xfrm>
            <a:off x="804672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641080" y="4663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equity by ownership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ownership: Fund 25%, Membership 10%, Strategic 12.5%, MEGALODOME GOLF USA INC. 52.5% (after the 10% preferred return).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accredited investors only. Not an offer to sell or solicitation to buy any security; the offering is made solely through the Confidential Private Placement Memorandum of MEGALODOME GOLF Equity Fund I LLC under Rule 506(c) of Regulation D. Projections are modeled estimates, not guarantees; actual results will differ. Restructured terms are illustrative and subject to amended offering documents and securities-counsel review.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0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EDC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Modeled returns to investor equity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383838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5" name="Text 3"/>
          <p:cNvSpPr/>
          <p:nvPr/>
        </p:nvSpPr>
        <p:spPr>
          <a:xfrm>
            <a:off x="731520" y="2167128"/>
            <a:ext cx="333756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EEDC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19.7%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49808" y="3233318"/>
            <a:ext cx="33009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IRR (5-YEAR HOLD)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383838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4434840" y="2167128"/>
            <a:ext cx="333756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EEDC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2.35x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4453128" y="3233318"/>
            <a:ext cx="33009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MULTIPLE (MOIC)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96596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383838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Text 9"/>
          <p:cNvSpPr/>
          <p:nvPr/>
        </p:nvSpPr>
        <p:spPr>
          <a:xfrm>
            <a:off x="8138160" y="2167128"/>
            <a:ext cx="333756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EEDC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$48.8M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8156448" y="3233318"/>
            <a:ext cx="33009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EQUITY AT EXIT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27080" cy="1737360"/>
          </a:xfrm>
          <a:prstGeom prst="roundRect">
            <a:avLst>
              <a:gd name="adj" fmla="val 3158"/>
            </a:avLst>
          </a:prstGeom>
          <a:solidFill>
            <a:srgbClr val="1F2A44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4" name="Text 12"/>
          <p:cNvSpPr/>
          <p:nvPr/>
        </p:nvSpPr>
        <p:spPr>
          <a:xfrm>
            <a:off x="914400" y="43159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EDC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EXIT MATH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709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$15.0M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5257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YEAR-5 EBITDA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54096" y="4709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9.0x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054096" y="5257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MULTIPLE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93792" y="4709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$135.0M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193792" y="5257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33488" y="4709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$32.2M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33488" y="5257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473184" y="4709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$102.8M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473184" y="5257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VALUE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5989320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models a Year-5 exit at 9.0x stabilized EBITDA, net of debt. Investor equity (Fund, Membership, and the direct outside stake) holds 47.5% of equity value at exit; MEGALODOME GOLF USA INC. (the Manager) holds 52.5%.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accredited investors only. Not an offer to sell or solicitation to buy any security; the offering is made solely through the Confidential Private Placement Memorandum of MEGALODOME GOLF Equity Fund I LLC under Rule 506(c) of Regulation D. Projections are modeled estimates, not guarantees; actual results will differ.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goes into a hard, finished asset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874520"/>
          <a:ext cx="66751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87452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F3F1EA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7818120" y="20299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18120" y="23957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(3 tranches)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0" y="23957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$25.0M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18120" y="2743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senior debt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0" y="27432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$40.0M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18120" y="30906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/ equipment debt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0" y="30906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$12.0M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818120" y="3438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sources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058400" y="34381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$77.0M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589520" y="402336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1F2A44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6" name="Text 13"/>
          <p:cNvSpPr/>
          <p:nvPr/>
        </p:nvSpPr>
        <p:spPr>
          <a:xfrm>
            <a:off x="7726680" y="425196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EDC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~62%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7818120" y="50749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raise goes directly into buildings and the course — a tangible, collateralizable asset, not overhead.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accredited investors only. Not an offer to sell or solicitation to buy any security; the offering is made solely through the Confidential Private Placement Memorandum of MEGALODOME GOLF Equity Fund I LLC under Rule 506(c) of Regulation D. Projections are modeled estimates, not guarantees; actual results will differ.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1430000" y="6510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flagship today, a platform tomorrow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Chicago-West is the template the platform replicates. The economics, operating model, and design system are built once and rolled out — with a multi-tenant platform designed for external licensing from day one.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3429000" cy="2743200"/>
          </a:xfrm>
          <a:prstGeom prst="roundRect">
            <a:avLst>
              <a:gd name="adj" fmla="val 2000"/>
            </a:avLst>
          </a:prstGeom>
          <a:solidFill>
            <a:srgbClr val="F3F1E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1920240" y="3154680"/>
            <a:ext cx="868680" cy="868680"/>
          </a:xfrm>
          <a:prstGeom prst="ellipse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408" y="33558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160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526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Flagship Opens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60120" y="50292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Oswego, IL — the proof asset and operating template.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2926080"/>
            <a:ext cx="3429000" cy="2743200"/>
          </a:xfrm>
          <a:prstGeom prst="roundRect">
            <a:avLst>
              <a:gd name="adj" fmla="val 2000"/>
            </a:avLst>
          </a:prstGeom>
          <a:solidFill>
            <a:srgbClr val="F3F1E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2" name="Shape 9"/>
          <p:cNvSpPr/>
          <p:nvPr/>
        </p:nvSpPr>
        <p:spPr>
          <a:xfrm>
            <a:off x="5623560" y="3154680"/>
            <a:ext cx="868680" cy="868680"/>
          </a:xfrm>
          <a:prstGeom prst="ellipse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728" y="335584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43400" y="4160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343400" y="4526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Facilities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4663440" y="50292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across 27 cities on a repeatable development model.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46720" y="2926080"/>
            <a:ext cx="3429000" cy="2743200"/>
          </a:xfrm>
          <a:prstGeom prst="roundRect">
            <a:avLst>
              <a:gd name="adj" fmla="val 2000"/>
            </a:avLst>
          </a:prstGeom>
          <a:solidFill>
            <a:srgbClr val="1F2A44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8" name="Shape 14"/>
          <p:cNvSpPr/>
          <p:nvPr/>
        </p:nvSpPr>
        <p:spPr>
          <a:xfrm>
            <a:off x="9326880" y="3154680"/>
            <a:ext cx="868680" cy="868680"/>
          </a:xfrm>
          <a:prstGeom prst="ellipse">
            <a:avLst/>
          </a:prstGeom>
          <a:solidFill>
            <a:srgbClr val="EEDCA7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48" y="335584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46720" y="4160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EDC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046720" y="4526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Megalodome OS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8366760" y="50292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platform engineered for external licensing.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accredited investors only. Not an offer to sell or solicitation to buy any security; the offering is made solely through the Confidential Private Placement Memorandum of MEGALODOME GOLF Equity Fund I LLC under Rule 506(c) of Regulation D. Projections are modeled estimates, not guarantees; actual results will differ.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11430000" y="6510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who have built and financed before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3F1EA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Bertrand Quentin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5786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90779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engineer (RPF) and serial founder; self-funded the project to investment-ready.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3F1EA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4572000" y="2194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Annie Bergevin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25786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FINANCIAL OFFICER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90779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B.Eng, MBA, CFA; ex-Credit Suisse; Columbia. Leads capital structure and finance.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3F1EA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8275320" y="2194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Alain Desrochers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75320" y="25786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CDO / </a:t>
            </a:r>
            <a:r>
              <a:rPr lang="en-US" sz="1100" b="1" kern="0" spc="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Vice-President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75320" y="290779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years of process-driven operations and development across large projects.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3F1EA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868680" y="4297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Jules Léger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468172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TECHNOLOGY OFFICER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501091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technology, and customer-experience systems — the Megalodome OS lead.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411480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3F1EA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1" name="Text 19"/>
          <p:cNvSpPr/>
          <p:nvPr/>
        </p:nvSpPr>
        <p:spPr>
          <a:xfrm>
            <a:off x="4572000" y="4297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Nick Badyal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0" y="468172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SALES &amp; PARTNERSHIPS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501091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sponsorship, memberships, and events across all commercial domains.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411480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3F1EA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5" name="Text 23"/>
          <p:cNvSpPr/>
          <p:nvPr/>
        </p:nvSpPr>
        <p:spPr>
          <a:xfrm>
            <a:off x="8275320" y="4297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Brad Blazar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75320" y="468172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ADVISOR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5320" y="501091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Capital-raise advisor; partnerships and investor relations.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 counsel: Bond Conway Law  ·  Course design: Huxham Golf Design  ·  Planning: Schoppe Design Associates  ·  Strategy &amp; operating model: SportsDome Advisory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430000" y="6510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7830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EEDC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224028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in the category before it exists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1752448" y="315468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383838"/>
          </a:solidFill>
          <a:ln w="12700">
            <a:solidFill>
              <a:srgbClr val="EEDCA7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1752448" y="315468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 Equity (3 tranches)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preferred return  ·  ownership 25 / 10 / 12.5 / 52.5  ·  modeled 19.7% IRR / 2.35x over a 5-year hold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08" y="4526280"/>
            <a:ext cx="640080" cy="640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5257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45-minute investor discovery call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0" y="5623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EDC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invest.megalodomegolf.com/chicago-west</a:t>
            </a:r>
            <a:r>
              <a:rPr lang="en-US" sz="14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link.megalodomegolf.com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0" y="605332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 Badyal — VP Sales &amp; Partnerships   ·   MEGALODOME GOLF Equity Fund I LLC   ·   Reg D 506(c)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accredited investors only. Not an offer to sell or solicitation to buy any security; the offering is made solely through the Confidential Private Placement Memorandum of MEGALODOME GOLF Equity Fund I LLC under Rule 506(c) of Regulation D. Projections are modeled estimates, not guarantees; actual results will differ. Restructured terms are illustrative and subject to amended offering documents and securities-counsel review.</a:t>
            </a:r>
            <a:endParaRPr lang="en-US" sz="7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DDC588-C2FB-4FAA-FF14-59DDA15CE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341" y="568261"/>
            <a:ext cx="2155317" cy="10776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CB5E477540964E8F626A688AAD728E" ma:contentTypeVersion="14" ma:contentTypeDescription="Create a new document." ma:contentTypeScope="" ma:versionID="6c1c305a94a89f2041ba7b69dcb70855">
  <xsd:schema xmlns:xsd="http://www.w3.org/2001/XMLSchema" xmlns:xs="http://www.w3.org/2001/XMLSchema" xmlns:p="http://schemas.microsoft.com/office/2006/metadata/properties" xmlns:ns2="234de5ca-b4f8-4058-b9f6-459763652aff" xmlns:ns3="835f4433-dd77-4c52-bb0b-bde5e23e02d4" targetNamespace="http://schemas.microsoft.com/office/2006/metadata/properties" ma:root="true" ma:fieldsID="17427eedb5981284c077e88e6af5560e" ns2:_="" ns3:_="">
    <xsd:import namespace="234de5ca-b4f8-4058-b9f6-459763652aff"/>
    <xsd:import namespace="835f4433-dd77-4c52-bb0b-bde5e23e02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4de5ca-b4f8-4058-b9f6-459763652a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ae1480b-bd3f-4ba3-909e-28113204a6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5f4433-dd77-4c52-bb0b-bde5e23e02d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27d96b5-36a5-4f4d-ab1c-87f745630bd6}" ma:internalName="TaxCatchAll" ma:showField="CatchAllData" ma:web="835f4433-dd77-4c52-bb0b-bde5e23e02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35f4433-dd77-4c52-bb0b-bde5e23e02d4" xsi:nil="true"/>
    <lcf76f155ced4ddcb4097134ff3c332f xmlns="234de5ca-b4f8-4058-b9f6-459763652af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E8DC1E-F82A-4164-B2AC-62B6399C17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4de5ca-b4f8-4058-b9f6-459763652aff"/>
    <ds:schemaRef ds:uri="835f4433-dd77-4c52-bb0b-bde5e23e02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598623-B6C7-4A5A-BF53-E0CF60F17C07}">
  <ds:schemaRefs>
    <ds:schemaRef ds:uri="http://schemas.microsoft.com/office/2006/metadata/properties"/>
    <ds:schemaRef ds:uri="http://schemas.microsoft.com/office/infopath/2007/PartnerControls"/>
    <ds:schemaRef ds:uri="835f4433-dd77-4c52-bb0b-bde5e23e02d4"/>
    <ds:schemaRef ds:uri="234de5ca-b4f8-4058-b9f6-459763652aff"/>
  </ds:schemaRefs>
</ds:datastoreItem>
</file>

<file path=customXml/itemProps3.xml><?xml version="1.0" encoding="utf-8"?>
<ds:datastoreItem xmlns:ds="http://schemas.openxmlformats.org/officeDocument/2006/customXml" ds:itemID="{756731F8-FEAD-4360-B9E0-646106D6B6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2093</Words>
  <Application>Microsoft Office PowerPoint</Application>
  <PresentationFormat>Grand écran</PresentationFormat>
  <Paragraphs>221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Megalodome Golf — Investor Presentation</dc:title>
  <dc:subject>PptxGenJS Presentation</dc:subject>
  <dc:creator>SportsDome Advisory</dc:creator>
  <cp:lastModifiedBy>Alain Desrochers</cp:lastModifiedBy>
  <cp:revision>3</cp:revision>
  <dcterms:created xsi:type="dcterms:W3CDTF">2026-06-15T16:25:11Z</dcterms:created>
  <dcterms:modified xsi:type="dcterms:W3CDTF">2026-07-17T13:47:42Z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0x010100F1CB5E477540964E8F626A688AAD728E</vt:lpwstr>
  </property>
  <property fmtid="{D5CDD505-2E9C-101B-9397-08002B2CF9AE}" pid="3" name="MediaServiceImageTags">
    <vt:lpwstr/>
  </property>
</Properties>
</file>